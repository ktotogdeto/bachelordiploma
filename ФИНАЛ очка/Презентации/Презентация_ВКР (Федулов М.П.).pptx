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1"/>
  </p:notesMasterIdLst>
  <p:sldIdLst>
    <p:sldId id="256" r:id="rId2"/>
    <p:sldId id="259" r:id="rId3"/>
    <p:sldId id="268" r:id="rId4"/>
    <p:sldId id="269" r:id="rId5"/>
    <p:sldId id="272" r:id="rId6"/>
    <p:sldId id="273" r:id="rId7"/>
    <p:sldId id="270" r:id="rId8"/>
    <p:sldId id="275" r:id="rId9"/>
    <p:sldId id="279" r:id="rId10"/>
    <p:sldId id="280" r:id="rId11"/>
    <p:sldId id="278" r:id="rId12"/>
    <p:sldId id="281" r:id="rId13"/>
    <p:sldId id="282" r:id="rId14"/>
    <p:sldId id="283" r:id="rId15"/>
    <p:sldId id="284" r:id="rId16"/>
    <p:sldId id="285" r:id="rId17"/>
    <p:sldId id="286" r:id="rId18"/>
    <p:sldId id="271" r:id="rId19"/>
    <p:sldId id="267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92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69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36C68-DDAB-4D09-8E72-8E937BD7768C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8289E-2F4B-4BDB-9E3D-307BE649A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579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006A-6BE7-43E8-8AD6-C09FC266B36F}" type="datetime1">
              <a:rPr lang="ru-RU" smtClean="0"/>
              <a:t>11.06.2026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844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13183-B2A1-4784-80CE-65A33D52CB0B}" type="datetime1">
              <a:rPr lang="ru-RU" smtClean="0"/>
              <a:t>11.06.2026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8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88E9-D2C3-4436-BFEE-5F0C2E0896FE}" type="datetime1">
              <a:rPr lang="ru-RU" smtClean="0"/>
              <a:t>11.06.2026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74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5BC7-66CE-44BA-84C4-ADF5D358A8E5}" type="datetime1">
              <a:rPr lang="ru-RU" smtClean="0"/>
              <a:t>11.06.2026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502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F641-8A7B-48BB-9924-29525D09D843}" type="datetime1">
              <a:rPr lang="ru-RU" smtClean="0"/>
              <a:t>11.06.2026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410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CC1A-CDB1-4CBC-83A8-3EB958439194}" type="datetime1">
              <a:rPr lang="ru-RU" smtClean="0"/>
              <a:t>11.06.2026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16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C5F1-78C0-4305-B0EC-8CEF047F6C93}" type="datetime1">
              <a:rPr lang="ru-RU" smtClean="0"/>
              <a:t>11.06.2026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142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670FB-17C0-4434-90C8-A4668EF13565}" type="datetime1">
              <a:rPr lang="ru-RU" smtClean="0"/>
              <a:t>11.06.2026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246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5D1FD-3FC4-47EA-B2EB-FF46800F6009}" type="datetime1">
              <a:rPr lang="ru-RU" smtClean="0"/>
              <a:t>11.06.2026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027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85EE-4AB9-42CD-8126-E74FE77A9ED8}" type="datetime1">
              <a:rPr lang="ru-RU" smtClean="0"/>
              <a:t>11.06.2026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734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B916C-83BE-4CC1-8A21-D05CD30C43DB}" type="datetime1">
              <a:rPr lang="ru-RU" smtClean="0"/>
              <a:t>11.06.2026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180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09404-ED28-47FE-9DC5-C6BCEA110D1D}" type="datetime1">
              <a:rPr lang="ru-RU" smtClean="0"/>
              <a:t>11.06.2026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56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07024" y="2325303"/>
            <a:ext cx="5231240" cy="181588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Elektra Text Pro" panose="02000503030000020004" pitchFamily="50" charset="-52"/>
              </a:rPr>
              <a:t>Автоматизированная система по отслеживанию выполнения задач в компании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6684" y="4574578"/>
            <a:ext cx="3931920" cy="116955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Студент: Федулов Михаил Павлович,</a:t>
            </a:r>
          </a:p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гр. 6404-090301</a:t>
            </a:r>
            <a:r>
              <a:rPr lang="en-US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D</a:t>
            </a:r>
            <a:endParaRPr lang="ru-RU" sz="1400" dirty="0">
              <a:solidFill>
                <a:schemeClr val="bg1"/>
              </a:solidFill>
              <a:latin typeface="Elektra Text Pro" panose="02000503030000020004" pitchFamily="50" charset="-52"/>
            </a:endParaRPr>
          </a:p>
          <a:p>
            <a:pPr algn="ctr"/>
            <a:endParaRPr lang="ru-RU" sz="1400" dirty="0">
              <a:solidFill>
                <a:schemeClr val="bg1"/>
              </a:solidFill>
              <a:latin typeface="Elektra Text Pro" panose="02000503030000020004" pitchFamily="50" charset="-52"/>
            </a:endParaRPr>
          </a:p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Руководитель: Соловьева Яна Владимировна, доцент кафедры ИСТ, к.т.н.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9501" y="6093318"/>
            <a:ext cx="3846286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Самара, 2026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E692750-367E-1C41-F4BE-50B95D20B35A}"/>
              </a:ext>
            </a:extLst>
          </p:cNvPr>
          <p:cNvSpPr/>
          <p:nvPr/>
        </p:nvSpPr>
        <p:spPr>
          <a:xfrm>
            <a:off x="6556684" y="164592"/>
            <a:ext cx="3931920" cy="1865376"/>
          </a:xfrm>
          <a:prstGeom prst="rect">
            <a:avLst/>
          </a:prstGeom>
          <a:solidFill>
            <a:srgbClr val="2192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33D166-D669-A762-0059-D431FC83A8E4}"/>
              </a:ext>
            </a:extLst>
          </p:cNvPr>
          <p:cNvSpPr txBox="1"/>
          <p:nvPr/>
        </p:nvSpPr>
        <p:spPr>
          <a:xfrm>
            <a:off x="5468984" y="727350"/>
            <a:ext cx="6107320" cy="95410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ФЕДЕРАЛЬНОЕ ГОСУДАРСТВЕННОЕ АВТОНОМНОЕ ОБРАЗОВАТЕЛЬНОЕ УЧРЕЖДЕНИЕ ВЫСШЕГО ОБРАЗОВАНИЯ</a:t>
            </a:r>
          </a:p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«САМАРСКИЙ НАЦИОНАЛЬНЫЙ ИССЛЕДОВАТЕЛЬСКИЙ УНИВЕРСИТЕТ ИМЕНИ АКАДЕМИКА С.П. КОРОЛЕВА»</a:t>
            </a:r>
          </a:p>
        </p:txBody>
      </p:sp>
    </p:spTree>
    <p:extLst>
      <p:ext uri="{BB962C8B-B14F-4D97-AF65-F5344CB8AC3E}">
        <p14:creationId xmlns:p14="http://schemas.microsoft.com/office/powerpoint/2010/main" val="3482473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E726BE8-A889-12C1-E220-BAD6C95D5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374" y="3246762"/>
            <a:ext cx="4589253" cy="30776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ВВЕДЕНИЕ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2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6211" y="1100840"/>
            <a:ext cx="11173326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449263"/>
            <a:r>
              <a:rPr lang="ru-RU" dirty="0"/>
              <a:t>	Монолитная архитектура – классический подход, когда весь код приложения упакован в один неразделимый пакет. Интерфейс, бизнес-логика и работа с данными живут в одном пространстве и функционируют как единое целое.</a:t>
            </a:r>
          </a:p>
          <a:p>
            <a:pPr defTabSz="449263"/>
            <a:endParaRPr lang="ru-RU" dirty="0"/>
          </a:p>
          <a:p>
            <a:pPr defTabSz="449263"/>
            <a:r>
              <a:rPr lang="ru-RU" dirty="0"/>
              <a:t>	</a:t>
            </a:r>
            <a:r>
              <a:rPr lang="ru-RU" dirty="0" err="1"/>
              <a:t>Микрофронтенд</a:t>
            </a:r>
            <a:r>
              <a:rPr lang="ru-RU" dirty="0"/>
              <a:t> – это разделение монолитного фронта на отдельные кодовые базы, хранящиеся в отдельных репозиториях. По большей части этот подход представляет собой организационное решение о том, как управлять сложностью разработки в большом проекте. Огромный «монолит» приложения можно разбить на несколько </a:t>
            </a:r>
            <a:r>
              <a:rPr lang="ru-RU" dirty="0" err="1"/>
              <a:t>микрофронтендов</a:t>
            </a:r>
            <a:r>
              <a:rPr lang="ru-RU" dirty="0"/>
              <a:t>, где каждая команда разработчиков будет отвечать за свою часть.</a:t>
            </a:r>
          </a:p>
        </p:txBody>
      </p:sp>
    </p:spTree>
    <p:extLst>
      <p:ext uri="{BB962C8B-B14F-4D97-AF65-F5344CB8AC3E}">
        <p14:creationId xmlns:p14="http://schemas.microsoft.com/office/powerpoint/2010/main" val="1878654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38FDBF-9B10-CE6E-7B7B-A2573898D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218065-C42C-C84B-B1EB-0F8F85844B9A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ПОСТАНОВКА ЗАДАЧИ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EA0E5F-3183-9F79-0D84-DC6052AE748F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3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4ED096-0EC0-DBBE-E043-FF51FA37EE67}"/>
              </a:ext>
            </a:extLst>
          </p:cNvPr>
          <p:cNvSpPr txBox="1"/>
          <p:nvPr/>
        </p:nvSpPr>
        <p:spPr>
          <a:xfrm>
            <a:off x="741872" y="1514908"/>
            <a:ext cx="1074200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49263"/>
            <a:r>
              <a:rPr lang="ru-RU" sz="2400" dirty="0"/>
              <a:t>	Примером эффективного и отказоустойчивого веб-приложения на </a:t>
            </a:r>
            <a:r>
              <a:rPr lang="ru-RU" sz="2400" dirty="0" err="1"/>
              <a:t>микрофронтендной</a:t>
            </a:r>
            <a:r>
              <a:rPr lang="ru-RU" sz="2400" dirty="0"/>
              <a:t> архитектуре является сайт «Менеджер задач» для отслеживания и контроля выполнения задач.</a:t>
            </a:r>
          </a:p>
          <a:p>
            <a:endParaRPr lang="ru-RU" sz="2400" dirty="0"/>
          </a:p>
          <a:p>
            <a:pPr>
              <a:tabLst>
                <a:tab pos="449263" algn="l"/>
              </a:tabLst>
            </a:pPr>
            <a:r>
              <a:rPr lang="ru-RU" sz="2400" dirty="0"/>
              <a:t>	Разрабатываемая автоматизированная информационная система должна реализовывать следующие функции:</a:t>
            </a:r>
          </a:p>
          <a:p>
            <a:pPr marL="449263" indent="-285750">
              <a:buFontTx/>
              <a:buChar char="-"/>
            </a:pPr>
            <a:r>
              <a:rPr lang="ru-RU" sz="2400" dirty="0"/>
              <a:t>создание и контроль задач, а также их цепочек;</a:t>
            </a:r>
          </a:p>
          <a:p>
            <a:pPr marL="449263" indent="-285750">
              <a:buFontTx/>
              <a:buChar char="-"/>
            </a:pPr>
            <a:r>
              <a:rPr lang="ru-RU" sz="2400" dirty="0"/>
              <a:t>регистрация и аутентификация пользователей;</a:t>
            </a:r>
          </a:p>
          <a:p>
            <a:pPr marL="449263" indent="-285750">
              <a:buFontTx/>
              <a:buChar char="-"/>
            </a:pPr>
            <a:r>
              <a:rPr lang="ru-RU" sz="2400" dirty="0"/>
              <a:t>ролевой доступ к определенным функциям;</a:t>
            </a:r>
          </a:p>
          <a:p>
            <a:pPr marL="449263" indent="-285750">
              <a:buFontTx/>
              <a:buChar char="-"/>
            </a:pPr>
            <a:r>
              <a:rPr lang="ru-RU" sz="2400" dirty="0"/>
              <a:t>управление всеми пользователями в системе.</a:t>
            </a:r>
          </a:p>
        </p:txBody>
      </p:sp>
    </p:spTree>
    <p:extLst>
      <p:ext uri="{BB962C8B-B14F-4D97-AF65-F5344CB8AC3E}">
        <p14:creationId xmlns:p14="http://schemas.microsoft.com/office/powerpoint/2010/main" val="3676067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818B7-5EE7-1F38-691C-537B3BC5E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0DC083-DAC2-4F8D-BB05-0FFACAF8A235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СИСТЕМА-АНАЛОГ: </a:t>
            </a:r>
            <a:r>
              <a:rPr lang="en-US" dirty="0">
                <a:solidFill>
                  <a:schemeClr val="bg1"/>
                </a:solidFill>
                <a:latin typeface="Elektra Text Pro" panose="02000503030000020004" pitchFamily="50" charset="-52"/>
              </a:rPr>
              <a:t>TRELLO</a:t>
            </a:r>
            <a:endParaRPr lang="ru-RU" dirty="0">
              <a:solidFill>
                <a:schemeClr val="bg1"/>
              </a:solidFill>
              <a:latin typeface="Elektra Text Pro" panose="02000503030000020004" pitchFamily="50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3D8BDD-D3EA-31C9-4E6E-816C2CE52E1C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4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B95F73-D0DD-F274-1181-DA965D0D2D20}"/>
              </a:ext>
            </a:extLst>
          </p:cNvPr>
          <p:cNvSpPr txBox="1"/>
          <p:nvPr/>
        </p:nvSpPr>
        <p:spPr>
          <a:xfrm>
            <a:off x="538293" y="1234817"/>
            <a:ext cx="39819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Trello</a:t>
            </a:r>
          </a:p>
          <a:p>
            <a:endParaRPr lang="en-US" dirty="0"/>
          </a:p>
          <a:p>
            <a:r>
              <a:rPr lang="ru-RU" dirty="0"/>
              <a:t>Канбан-доска с карточками и колонками. Минималистичный инструмент для визуального управления задачами.</a:t>
            </a:r>
            <a:endParaRPr lang="en-US" dirty="0"/>
          </a:p>
          <a:p>
            <a:endParaRPr lang="en-US" dirty="0"/>
          </a:p>
          <a:p>
            <a:r>
              <a:rPr lang="ru-RU" dirty="0"/>
              <a:t>Преимущества:</a:t>
            </a:r>
          </a:p>
          <a:p>
            <a:pPr marL="285750" indent="-285750">
              <a:buFontTx/>
              <a:buChar char="-"/>
            </a:pPr>
            <a:r>
              <a:rPr lang="ru-RU" dirty="0"/>
              <a:t>Визуальная наглядность;</a:t>
            </a:r>
          </a:p>
          <a:p>
            <a:pPr marL="285750" indent="-285750">
              <a:buFontTx/>
              <a:buChar char="-"/>
            </a:pPr>
            <a:r>
              <a:rPr lang="ru-RU" dirty="0"/>
              <a:t>Гибкость применения;</a:t>
            </a:r>
          </a:p>
          <a:p>
            <a:pPr marL="285750" indent="-285750">
              <a:buFontTx/>
              <a:buChar char="-"/>
            </a:pPr>
            <a:r>
              <a:rPr lang="ru-RU" dirty="0"/>
              <a:t>Низкий порог входа.</a:t>
            </a:r>
          </a:p>
          <a:p>
            <a:pPr marL="285750" indent="-285750">
              <a:buFontTx/>
              <a:buChar char="-"/>
            </a:pPr>
            <a:endParaRPr lang="ru-RU" dirty="0"/>
          </a:p>
          <a:p>
            <a:r>
              <a:rPr lang="ru-RU" dirty="0"/>
              <a:t>Недостатки: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Плохая масштабируемость;</a:t>
            </a:r>
          </a:p>
          <a:p>
            <a:pPr marL="285750" indent="-285750">
              <a:buFontTx/>
              <a:buChar char="-"/>
            </a:pPr>
            <a:r>
              <a:rPr lang="ru-RU" dirty="0"/>
              <a:t>Отсутствие встроенное аналитики;</a:t>
            </a:r>
          </a:p>
          <a:p>
            <a:pPr marL="285750" indent="-285750">
              <a:buFontTx/>
              <a:buChar char="-"/>
            </a:pPr>
            <a:r>
              <a:rPr lang="ru-RU" dirty="0"/>
              <a:t>Ограниченная иерархия.</a:t>
            </a:r>
          </a:p>
        </p:txBody>
      </p:sp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2BC58A4C-BBAD-5298-AE8E-5735AF2DF6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836" y="1234817"/>
            <a:ext cx="6690872" cy="44931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4648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FBCD51-5CF4-F6DB-86CA-E552E73F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B64BBE-8748-00A9-4661-DF2A3E478DDE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СИСТЕМА-АНАЛОГ: </a:t>
            </a:r>
            <a:r>
              <a:rPr lang="en-US" dirty="0">
                <a:solidFill>
                  <a:schemeClr val="bg1"/>
                </a:solidFill>
                <a:latin typeface="Elektra Text Pro" panose="02000503030000020004" pitchFamily="50" charset="-52"/>
              </a:rPr>
              <a:t>JIRA</a:t>
            </a:r>
            <a:endParaRPr lang="ru-RU" dirty="0">
              <a:solidFill>
                <a:schemeClr val="bg1"/>
              </a:solidFill>
              <a:latin typeface="Elektra Text Pro" panose="02000503030000020004" pitchFamily="50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D4E8DF-D63D-6ABE-F207-A9A53D5EF821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5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2F8ABD-2687-E28A-1F8E-B6802EAC490A}"/>
              </a:ext>
            </a:extLst>
          </p:cNvPr>
          <p:cNvSpPr txBox="1"/>
          <p:nvPr/>
        </p:nvSpPr>
        <p:spPr>
          <a:xfrm>
            <a:off x="7671757" y="1234817"/>
            <a:ext cx="39819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Jira</a:t>
            </a:r>
          </a:p>
          <a:p>
            <a:endParaRPr lang="en-US" dirty="0"/>
          </a:p>
          <a:p>
            <a:r>
              <a:rPr lang="ru-RU" dirty="0"/>
              <a:t>Мощная система для управления проектами, ориентированная на IT-команды и методологии </a:t>
            </a:r>
            <a:r>
              <a:rPr lang="ru-RU" dirty="0" err="1"/>
              <a:t>Agile</a:t>
            </a:r>
            <a:r>
              <a:rPr lang="ru-RU" dirty="0"/>
              <a:t>/</a:t>
            </a:r>
            <a:r>
              <a:rPr lang="ru-RU" dirty="0" err="1"/>
              <a:t>Scrum</a:t>
            </a:r>
            <a:r>
              <a:rPr lang="ru-RU" dirty="0"/>
              <a:t>/</a:t>
            </a:r>
            <a:r>
              <a:rPr lang="ru-RU" dirty="0" err="1"/>
              <a:t>Kanban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dirty="0"/>
              <a:t>Преимущества:</a:t>
            </a:r>
          </a:p>
          <a:p>
            <a:pPr marL="285750" indent="-285750">
              <a:buFontTx/>
              <a:buChar char="-"/>
            </a:pPr>
            <a:r>
              <a:rPr lang="ru-RU" dirty="0"/>
              <a:t>Масштабируемость;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Поддержка </a:t>
            </a:r>
            <a:r>
              <a:rPr lang="en-US" dirty="0"/>
              <a:t>Agile/Scrum</a:t>
            </a:r>
            <a:r>
              <a:rPr lang="ru-RU" dirty="0"/>
              <a:t>;</a:t>
            </a:r>
          </a:p>
          <a:p>
            <a:pPr marL="285750" indent="-285750">
              <a:buFontTx/>
              <a:buChar char="-"/>
            </a:pPr>
            <a:r>
              <a:rPr lang="ru-RU" dirty="0"/>
              <a:t>Продвинутая аналитика.</a:t>
            </a:r>
          </a:p>
          <a:p>
            <a:pPr marL="285750" indent="-285750">
              <a:buFontTx/>
              <a:buChar char="-"/>
            </a:pPr>
            <a:endParaRPr lang="ru-RU" dirty="0"/>
          </a:p>
          <a:p>
            <a:r>
              <a:rPr lang="ru-RU" dirty="0"/>
              <a:t>Недостатки:</a:t>
            </a:r>
          </a:p>
          <a:p>
            <a:pPr marL="285750" indent="-285750">
              <a:buFontTx/>
              <a:buChar char="-"/>
            </a:pPr>
            <a:r>
              <a:rPr lang="ru-RU" dirty="0"/>
              <a:t>Стоимость;</a:t>
            </a:r>
          </a:p>
          <a:p>
            <a:pPr marL="285750" indent="-285750">
              <a:buFontTx/>
              <a:buChar char="-"/>
            </a:pPr>
            <a:r>
              <a:rPr lang="ru-RU" dirty="0"/>
              <a:t>Высокий порог входа;</a:t>
            </a:r>
          </a:p>
          <a:p>
            <a:pPr marL="285750" indent="-285750">
              <a:buFontTx/>
              <a:buChar char="-"/>
            </a:pPr>
            <a:r>
              <a:rPr lang="ru-RU" dirty="0"/>
              <a:t>Избыточность для простых задач.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3C37812-A018-9F4B-7AB5-735F02741A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93" y="1510242"/>
            <a:ext cx="6868175" cy="38375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676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9ED7A-E096-4818-F3DD-1FC6CDA3A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08ABFC-9A57-17DA-1269-834BCBCAC4DC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СИСТЕМА-АНАЛОГ: </a:t>
            </a:r>
            <a:r>
              <a:rPr lang="en-US" dirty="0">
                <a:solidFill>
                  <a:schemeClr val="bg1"/>
                </a:solidFill>
                <a:latin typeface="Elektra Text Pro" panose="02000503030000020004" pitchFamily="50" charset="-52"/>
              </a:rPr>
              <a:t>ASANA</a:t>
            </a:r>
            <a:endParaRPr lang="ru-RU" dirty="0">
              <a:solidFill>
                <a:schemeClr val="bg1"/>
              </a:solidFill>
              <a:latin typeface="Elektra Text Pro" panose="02000503030000020004" pitchFamily="50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D7F53F-E8FB-0EC9-9E0B-CCF856D38562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6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B24821-2771-59CA-9EEF-51933A7F5C21}"/>
              </a:ext>
            </a:extLst>
          </p:cNvPr>
          <p:cNvSpPr txBox="1"/>
          <p:nvPr/>
        </p:nvSpPr>
        <p:spPr>
          <a:xfrm>
            <a:off x="538293" y="1234817"/>
            <a:ext cx="398195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Asana</a:t>
            </a:r>
          </a:p>
          <a:p>
            <a:endParaRPr lang="en-US" dirty="0"/>
          </a:p>
          <a:p>
            <a:r>
              <a:rPr lang="ru-RU" dirty="0"/>
              <a:t>Универсальный инструмент для управления проектами и командной работы с акцентом на удобство и дизайн.</a:t>
            </a:r>
            <a:endParaRPr lang="en-US" dirty="0"/>
          </a:p>
          <a:p>
            <a:endParaRPr lang="en-US" dirty="0"/>
          </a:p>
          <a:p>
            <a:r>
              <a:rPr lang="ru-RU" dirty="0"/>
              <a:t>Преимущества:</a:t>
            </a:r>
          </a:p>
          <a:p>
            <a:pPr marL="285750" indent="-285750">
              <a:buFontTx/>
              <a:buChar char="-"/>
            </a:pPr>
            <a:r>
              <a:rPr lang="ru-RU" dirty="0"/>
              <a:t>Удобный </a:t>
            </a:r>
            <a:r>
              <a:rPr lang="en-US" dirty="0"/>
              <a:t>UX</a:t>
            </a:r>
            <a:r>
              <a:rPr lang="ru-RU" dirty="0"/>
              <a:t>;</a:t>
            </a:r>
          </a:p>
          <a:p>
            <a:pPr marL="285750" indent="-285750">
              <a:buFontTx/>
              <a:buChar char="-"/>
            </a:pPr>
            <a:r>
              <a:rPr lang="ru-RU" dirty="0"/>
              <a:t>Встроенная аналитика;</a:t>
            </a:r>
          </a:p>
          <a:p>
            <a:pPr marL="285750" indent="-285750">
              <a:buFontTx/>
              <a:buChar char="-"/>
            </a:pPr>
            <a:r>
              <a:rPr lang="ru-RU" dirty="0"/>
              <a:t>Множество представлений.</a:t>
            </a:r>
          </a:p>
          <a:p>
            <a:pPr marL="285750" indent="-285750">
              <a:buFontTx/>
              <a:buChar char="-"/>
            </a:pPr>
            <a:endParaRPr lang="ru-RU" dirty="0"/>
          </a:p>
          <a:p>
            <a:r>
              <a:rPr lang="ru-RU" dirty="0"/>
              <a:t>Недостатки:</a:t>
            </a:r>
          </a:p>
          <a:p>
            <a:pPr marL="285750" indent="-285750">
              <a:buFontTx/>
              <a:buChar char="-"/>
            </a:pPr>
            <a:r>
              <a:rPr lang="ru-RU" dirty="0"/>
              <a:t>Высокая стоимость;</a:t>
            </a:r>
          </a:p>
          <a:p>
            <a:pPr marL="285750" indent="-285750">
              <a:buFontTx/>
              <a:buChar char="-"/>
            </a:pPr>
            <a:r>
              <a:rPr lang="ru-RU" dirty="0"/>
              <a:t>Медленная работа с большими проектами;</a:t>
            </a:r>
          </a:p>
          <a:p>
            <a:pPr marL="285750" indent="-285750">
              <a:buFontTx/>
              <a:buChar char="-"/>
            </a:pPr>
            <a:r>
              <a:rPr lang="ru-RU" dirty="0"/>
              <a:t>Избыточность для малых задач.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01046D6-E0EF-08A0-A76B-916E6F1E7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155" y="1505893"/>
            <a:ext cx="6963552" cy="384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964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EF542E-B0DF-D5E5-EB77-9E2D3EFBE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D9FFECE-DCBD-A37E-848D-4FF4A7047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469" y="1727977"/>
            <a:ext cx="7387062" cy="45963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B46701-4D4A-E1C8-3619-A7D8B02AC45C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ЛОГИЧЕСКАЯ МОДЕЛЬ БАЗЫ ДАННЫХ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5B4E7D-4B7B-56FF-46D4-A03F985ECABD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7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522422-F091-EE47-2E4A-66D256956B81}"/>
              </a:ext>
            </a:extLst>
          </p:cNvPr>
          <p:cNvSpPr txBox="1"/>
          <p:nvPr/>
        </p:nvSpPr>
        <p:spPr>
          <a:xfrm>
            <a:off x="577970" y="1212983"/>
            <a:ext cx="11069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49263"/>
            <a:r>
              <a:rPr lang="ru-RU" dirty="0"/>
              <a:t>	Логическая модель базы данных состоит из следующих сущностей: «Задача», «Цепочка задач» «Статус», «Пользователь», «</a:t>
            </a:r>
            <a:r>
              <a:rPr lang="ru-RU" dirty="0" err="1"/>
              <a:t>Роли_пользователей</a:t>
            </a:r>
            <a:r>
              <a:rPr lang="ru-RU" dirty="0"/>
              <a:t>», «Роль».</a:t>
            </a:r>
          </a:p>
        </p:txBody>
      </p:sp>
    </p:spTree>
    <p:extLst>
      <p:ext uri="{BB962C8B-B14F-4D97-AF65-F5344CB8AC3E}">
        <p14:creationId xmlns:p14="http://schemas.microsoft.com/office/powerpoint/2010/main" val="1901287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2D8B83-10B0-517C-C3BE-6152F7D16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F98638-29E7-6864-23BD-E1FA7C9E3450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ДИАГРАММА ВАРИАНТОВ ИСПОЛЬЗОВАНИЯ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BEAACD-1EDE-6795-7D1D-31C3BF0920CC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8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A3636BB-D0B7-9558-F894-82C5A7776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397" y="810883"/>
            <a:ext cx="6598874" cy="551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510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8435D1-7E3F-2746-F647-032848A33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46F0C8-CB20-5E96-6ED2-A0D98648B250}"/>
              </a:ext>
            </a:extLst>
          </p:cNvPr>
          <p:cNvSpPr txBox="1"/>
          <p:nvPr/>
        </p:nvSpPr>
        <p:spPr>
          <a:xfrm>
            <a:off x="1491364" y="301532"/>
            <a:ext cx="9618590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СХЕМА АЛГОРИТМА РЕГИСТРАЦИИ И АВТОРИЗАЦИИ ПОЛЬЗОВАТЕЛЯ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C09FCE-D53E-F142-652F-778B5458F066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9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08F539-5E5D-B2C4-1E2F-F74A1D1CE088}"/>
              </a:ext>
            </a:extLst>
          </p:cNvPr>
          <p:cNvSpPr txBox="1"/>
          <p:nvPr/>
        </p:nvSpPr>
        <p:spPr>
          <a:xfrm>
            <a:off x="0" y="817257"/>
            <a:ext cx="6095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49263"/>
            <a:r>
              <a:rPr lang="ru-RU" sz="2000" dirty="0"/>
              <a:t>Авторизация пользователя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FC831A-944D-2143-0805-F9F47942F061}"/>
              </a:ext>
            </a:extLst>
          </p:cNvPr>
          <p:cNvSpPr txBox="1"/>
          <p:nvPr/>
        </p:nvSpPr>
        <p:spPr>
          <a:xfrm>
            <a:off x="6082307" y="817257"/>
            <a:ext cx="6095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49263"/>
            <a:r>
              <a:rPr lang="ru-RU" sz="2000" dirty="0"/>
              <a:t>Регистрация пользователя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EF8BB7-A9E4-4D5D-A31E-FD8B25493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1557" y="1217367"/>
            <a:ext cx="2437497" cy="487499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7417971-6FF0-4436-8453-506DA5E989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047" y="1217367"/>
            <a:ext cx="2569904" cy="487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200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6CE209-45FD-6523-CA49-C8F5410E3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E89788-FFD2-1258-4D86-D6197C9B4FDA}"/>
              </a:ext>
            </a:extLst>
          </p:cNvPr>
          <p:cNvSpPr txBox="1"/>
          <p:nvPr/>
        </p:nvSpPr>
        <p:spPr>
          <a:xfrm>
            <a:off x="1491364" y="301532"/>
            <a:ext cx="9618590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СХЕМА АЛГОРИТМА ЗАГРУЗКИ МИКРОФРОНТЕНДА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2BCCF6-80F3-24FD-62AE-098437767858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10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E8E17F1-EE9F-4259-B584-75432EEC6F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222" y="928046"/>
            <a:ext cx="8081556" cy="500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277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1E13BB-1881-01C2-F02A-68968FE75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525D8A-1243-C9E4-2B26-9B4E37C14D7D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ВЫБОР ПРОГРАММНЫХ СРЕДСТВ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7BD8EBB-616A-E762-DC21-DBEC1304D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96" y="1737447"/>
            <a:ext cx="3942009" cy="12684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518B99-DE39-AB39-C4A3-913F13963FF4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11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6DA574-7225-8EC9-4CB2-C5999AFFE2C6}"/>
              </a:ext>
            </a:extLst>
          </p:cNvPr>
          <p:cNvSpPr txBox="1"/>
          <p:nvPr/>
        </p:nvSpPr>
        <p:spPr>
          <a:xfrm>
            <a:off x="0" y="1162313"/>
            <a:ext cx="6095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49263"/>
            <a:r>
              <a:rPr lang="ru-RU" sz="2400" dirty="0"/>
              <a:t>Серверная часть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7C8A9EE-AFB1-6C45-CACD-68F0648CF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659" y="3132537"/>
            <a:ext cx="3612681" cy="114335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946F806-49BA-56C6-FFFD-8DEEF802D3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98" y="4569059"/>
            <a:ext cx="2119223" cy="1098568"/>
          </a:xfrm>
          <a:prstGeom prst="rect">
            <a:avLst/>
          </a:prstGeom>
        </p:spPr>
      </p:pic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784B4A48-ED89-BE53-60D0-5A825231373C}"/>
              </a:ext>
            </a:extLst>
          </p:cNvPr>
          <p:cNvGrpSpPr/>
          <p:nvPr/>
        </p:nvGrpSpPr>
        <p:grpSpPr>
          <a:xfrm>
            <a:off x="7315892" y="3079766"/>
            <a:ext cx="3628828" cy="1388626"/>
            <a:chOff x="7481125" y="3048997"/>
            <a:chExt cx="3628828" cy="1388626"/>
          </a:xfrm>
        </p:grpSpPr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5B81B968-5B5F-87F4-9B8D-D5834CCD7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81125" y="3110534"/>
              <a:ext cx="1265553" cy="1265553"/>
            </a:xfrm>
            <a:prstGeom prst="rect">
              <a:avLst/>
            </a:prstGeom>
          </p:spPr>
        </p:pic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E1AEA254-E42B-3083-B86F-3DB63D29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617180" y="3048997"/>
              <a:ext cx="1492773" cy="1388626"/>
            </a:xfrm>
            <a:prstGeom prst="rect">
              <a:avLst/>
            </a:prstGeom>
          </p:spPr>
        </p:pic>
      </p:grp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A73D224-89D2-A80B-7914-1B5C3C48919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179" y="4625299"/>
            <a:ext cx="3234254" cy="108606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4520352-A3A5-6B8C-99C5-F774AB261886}"/>
              </a:ext>
            </a:extLst>
          </p:cNvPr>
          <p:cNvSpPr txBox="1"/>
          <p:nvPr/>
        </p:nvSpPr>
        <p:spPr>
          <a:xfrm>
            <a:off x="6082307" y="1162313"/>
            <a:ext cx="6095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49263"/>
            <a:r>
              <a:rPr lang="ru-RU" sz="2400" dirty="0"/>
              <a:t>Клиентская часть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196A07C-016F-4DBE-B747-D5D03167A1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7999" y="4801492"/>
            <a:ext cx="2119224" cy="57094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DEB8B21-6DD7-42B7-A29A-B18D0E75162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09605" y="1650546"/>
            <a:ext cx="3441402" cy="117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504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F1D8FD-1FA5-2FED-9C3A-02E089997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4B1E10-25C9-A209-E067-5B4B7E8A0DFF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ПРИМЕР ИНТЕРФЕЙСА ПОЛЬЗОВАТЕЛЯ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C22531-96AC-58E4-DE18-7BFED599B82D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12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9A1858D-73B5-CF56-19B0-15358AB4B3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723" t="15806" r="16632" b="15498"/>
          <a:stretch>
            <a:fillRect/>
          </a:stretch>
        </p:blipFill>
        <p:spPr bwMode="auto">
          <a:xfrm>
            <a:off x="903617" y="1213167"/>
            <a:ext cx="4191000" cy="44316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8960DB3-B930-8A6C-72BE-29DF3E9CEC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469" t="1857" r="3753" b="2652"/>
          <a:stretch>
            <a:fillRect/>
          </a:stretch>
        </p:blipFill>
        <p:spPr bwMode="auto">
          <a:xfrm>
            <a:off x="7097385" y="1000664"/>
            <a:ext cx="3602508" cy="48566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87376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93398C-F33E-0DC7-7D54-6E06838A2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4D18CC-7EC0-9513-05A9-45C89F63B2BB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ПРИМЕР ИНТЕРФЕЙСА ПОЛЬЗОВАТЕЛЯ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6EE6D8-D4EF-F76F-8FAB-1E86F191E449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13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475104-EF44-057B-E76D-22033F4D8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6" y="912108"/>
            <a:ext cx="10027908" cy="50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75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DCDC7-E05E-49A5-C3DD-8666E55DA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B1B0E4-E9D6-D57C-77E0-00826E410B43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ПРИМЕР ИНТЕРФЕЙСА ПОЛЬЗОВАТЕЛЯ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A9BF17-34CF-46BF-C78B-831D54D5BFD6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14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E4C7BC4-CCB1-E2F5-5541-557BEF213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15" y="1177323"/>
            <a:ext cx="4880662" cy="452931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AA2DF34-87E3-58FC-5DDC-EE4290703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658" y="1203289"/>
            <a:ext cx="4957504" cy="450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172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F7E994-97E1-7184-3C29-E9F9364F4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EDB605-8B88-AE6C-3612-4FC01697F4AA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ПРИМЕР ИНТЕРФЕЙСА ПОЛЬЗОВАТЕЛЯ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D9E23D-7E99-72B7-D489-9524857F01B3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15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2449C1A-9894-D276-5687-327F75454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6" y="920147"/>
            <a:ext cx="10027908" cy="501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410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53BD7A-B5D3-AEA4-946B-C78FD17CD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B0146B-09BE-BEF4-BF22-DC519EFB0DC0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ПРИМЕР ИНТЕРФЕЙСА ПОЛЬЗОВАТЕЛЯ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B832A4-2DCF-4E5D-7A5D-E9B2C31C0F68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16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967A66C-02A1-709E-B32A-44F1F8E2A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720" y="1028627"/>
            <a:ext cx="7976560" cy="480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054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856DD3-E84E-84DC-2D7B-907FB96A2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DE2551-9FBC-6A0C-96D0-4766D969C0E8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ПРИМЕР ИНТЕРФЕЙСА ПОЛЬЗОВАТЕЛЯ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0A9E6A-046F-7E0B-8724-DE3FCAAE4EEA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17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A868D1-0B3D-9758-CB55-9191D6255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29" y="940279"/>
            <a:ext cx="5687836" cy="497744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C0897B2-9DE8-DD7C-A4B6-D3440A522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658" y="940279"/>
            <a:ext cx="5687837" cy="136495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7DDCBAF-7BCE-37B4-0F91-E5B727029B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933" y="2414280"/>
            <a:ext cx="3802020" cy="366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251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54949-D5AE-F8D3-13F6-2969A86C7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A04DA7-8F53-769A-0417-39BC242E98DA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ЗАКЛЮЧЕНИЕ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6616FE-6E3A-C8F4-C006-6CCC80D86950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18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0B70D8-0BE7-8D49-187F-91FAF284EE3A}"/>
              </a:ext>
            </a:extLst>
          </p:cNvPr>
          <p:cNvSpPr txBox="1"/>
          <p:nvPr/>
        </p:nvSpPr>
        <p:spPr>
          <a:xfrm>
            <a:off x="759125" y="1514908"/>
            <a:ext cx="10707498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tabLst>
                <a:tab pos="449263" algn="l"/>
              </a:tabLst>
            </a:pPr>
            <a:r>
              <a:rPr lang="ru-RU" sz="2000" dirty="0"/>
              <a:t>	В ходе выполнения выпускной квалификационной работы были разработаны: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sz="2000" dirty="0"/>
              <a:t>логический проект системы по методологии </a:t>
            </a:r>
            <a:r>
              <a:rPr lang="en-US" sz="2000" dirty="0"/>
              <a:t>UML </a:t>
            </a:r>
            <a:r>
              <a:rPr lang="ru-RU" sz="2000" dirty="0"/>
              <a:t>с использованием сервиса </a:t>
            </a:r>
            <a:r>
              <a:rPr lang="en-US" sz="2000" dirty="0"/>
              <a:t>draw.io;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sz="2000" dirty="0"/>
              <a:t>логическая и физическая модели базы данных системы с использованием среды </a:t>
            </a:r>
            <a:r>
              <a:rPr lang="en-US" sz="2000" dirty="0" err="1"/>
              <a:t>AllFusion</a:t>
            </a:r>
            <a:r>
              <a:rPr lang="en-US" sz="2000" dirty="0"/>
              <a:t> </a:t>
            </a:r>
            <a:r>
              <a:rPr lang="en-US" sz="2000" dirty="0" err="1"/>
              <a:t>ERwin</a:t>
            </a:r>
            <a:r>
              <a:rPr lang="en-US" sz="2000" dirty="0"/>
              <a:t> Data Modeler </a:t>
            </a:r>
            <a:r>
              <a:rPr lang="ru-RU" sz="2000" dirty="0"/>
              <a:t>и </a:t>
            </a:r>
            <a:r>
              <a:rPr lang="en-US" sz="2000" dirty="0"/>
              <a:t>PostgreSQL;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sz="2000" dirty="0"/>
              <a:t>автоматизированная информационная система по отслеживанию выполнения задач в компании, с использованием </a:t>
            </a:r>
            <a:r>
              <a:rPr lang="ru-RU" sz="2000" dirty="0" err="1"/>
              <a:t>микрофронтендной</a:t>
            </a:r>
            <a:r>
              <a:rPr lang="ru-RU" sz="2000" dirty="0"/>
              <a:t> архитектуры</a:t>
            </a:r>
            <a:r>
              <a:rPr lang="en-US" sz="2000" dirty="0"/>
              <a:t>:</a:t>
            </a:r>
            <a:endParaRPr lang="ru-RU" sz="2000" dirty="0"/>
          </a:p>
          <a:p>
            <a:pPr marL="742950" lvl="1" indent="-285750">
              <a:spcAft>
                <a:spcPts val="600"/>
              </a:spcAft>
              <a:buFontTx/>
              <a:buChar char="-"/>
            </a:pPr>
            <a:r>
              <a:rPr lang="ru-RU" sz="2000" dirty="0"/>
              <a:t>серверная часть была написана на языке </a:t>
            </a:r>
            <a:r>
              <a:rPr lang="en-US" sz="2000" dirty="0"/>
              <a:t>Java </a:t>
            </a:r>
            <a:r>
              <a:rPr lang="ru-RU" sz="2000" dirty="0"/>
              <a:t>с использованием </a:t>
            </a:r>
            <a:r>
              <a:rPr lang="en-US" sz="2000" dirty="0"/>
              <a:t>Spring </a:t>
            </a:r>
            <a:r>
              <a:rPr lang="ru-RU" sz="2000" dirty="0"/>
              <a:t>и </a:t>
            </a:r>
            <a:r>
              <a:rPr lang="en-US" sz="2000" dirty="0"/>
              <a:t>Lombok;</a:t>
            </a:r>
          </a:p>
          <a:p>
            <a:pPr marL="742950" lvl="1" indent="-285750">
              <a:spcAft>
                <a:spcPts val="600"/>
              </a:spcAft>
              <a:buFontTx/>
              <a:buChar char="-"/>
            </a:pPr>
            <a:r>
              <a:rPr lang="ru-RU" sz="2000" dirty="0"/>
              <a:t>клиентская часть была написана на языке </a:t>
            </a:r>
            <a:r>
              <a:rPr lang="en-US" sz="2000" dirty="0"/>
              <a:t>TypeScript </a:t>
            </a:r>
            <a:r>
              <a:rPr lang="ru-RU" sz="2000" dirty="0"/>
              <a:t>с использованием </a:t>
            </a:r>
            <a:r>
              <a:rPr lang="en-US" sz="2000" dirty="0"/>
              <a:t>Angular </a:t>
            </a:r>
            <a:r>
              <a:rPr lang="ru-RU" sz="2000" dirty="0"/>
              <a:t>и </a:t>
            </a:r>
            <a:r>
              <a:rPr lang="en-US" sz="2000" dirty="0"/>
              <a:t>React;</a:t>
            </a:r>
          </a:p>
          <a:p>
            <a:pPr marL="742950" lvl="1" indent="-285750">
              <a:spcAft>
                <a:spcPts val="600"/>
              </a:spcAft>
              <a:buFontTx/>
              <a:buChar char="-"/>
            </a:pPr>
            <a:r>
              <a:rPr lang="ru-RU" sz="2000" dirty="0"/>
              <a:t>для реализации </a:t>
            </a:r>
            <a:r>
              <a:rPr lang="ru-RU" sz="2000" dirty="0" err="1"/>
              <a:t>микрофронтендной</a:t>
            </a:r>
            <a:r>
              <a:rPr lang="ru-RU" sz="2000" dirty="0"/>
              <a:t> архитектуры был использован</a:t>
            </a:r>
            <a:r>
              <a:rPr lang="en-US" sz="2000" dirty="0"/>
              <a:t> Module Federation </a:t>
            </a:r>
            <a:r>
              <a:rPr lang="ru-RU" sz="2000" dirty="0"/>
              <a:t>в модульном сборщике </a:t>
            </a:r>
            <a:r>
              <a:rPr lang="en-US" sz="2000" dirty="0"/>
              <a:t>Webpack.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928378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27734" y="2613399"/>
            <a:ext cx="3831772" cy="83099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  <a:latin typeface="Elektra Text Pro" panose="02000503030000020004" pitchFamily="50" charset="-52"/>
              </a:rPr>
              <a:t>БЛАГОДАРЮ </a:t>
            </a:r>
          </a:p>
          <a:p>
            <a:pPr algn="ctr"/>
            <a:r>
              <a:rPr lang="ru-RU" sz="2400" b="1" dirty="0">
                <a:solidFill>
                  <a:schemeClr val="bg1"/>
                </a:solidFill>
                <a:latin typeface="Elektra Text Pro" panose="02000503030000020004" pitchFamily="50" charset="-52"/>
              </a:rPr>
              <a:t>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4512463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631</TotalTime>
  <Words>536</Words>
  <Application>Microsoft Office PowerPoint</Application>
  <PresentationFormat>Широкоэкранный</PresentationFormat>
  <Paragraphs>105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Elektra Medium Pro</vt:lpstr>
      <vt:lpstr>Elektra Text Pro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Евгений Степанов</dc:creator>
  <cp:lastModifiedBy>Михаил Федулов</cp:lastModifiedBy>
  <cp:revision>53</cp:revision>
  <dcterms:created xsi:type="dcterms:W3CDTF">2016-03-09T10:31:39Z</dcterms:created>
  <dcterms:modified xsi:type="dcterms:W3CDTF">2026-06-11T13:47:46Z</dcterms:modified>
</cp:coreProperties>
</file>